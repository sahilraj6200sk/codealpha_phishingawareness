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-562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1828800" y="4206240"/>
            <a:ext cx="16459200" cy="36576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1143000"/>
            <a:ext cx="1371600" cy="1371600"/>
          </a:xfrm>
          <a:prstGeom prst="ellipse">
            <a:avLst/>
          </a:prstGeom>
          <a:solidFill>
            <a:srgbClr val="2B3572"/>
          </a:solidFill>
          <a:ln/>
        </p:spPr>
      </p:sp>
      <p:pic>
        <p:nvPicPr>
          <p:cNvPr id="4" name="Image 0" descr="/home/claude/phishing/icon_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485900"/>
            <a:ext cx="685800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829800" y="4800600"/>
            <a:ext cx="1005840" cy="1005840"/>
          </a:xfrm>
          <a:prstGeom prst="ellipse">
            <a:avLst/>
          </a:prstGeom>
          <a:solidFill>
            <a:srgbClr val="2B3572"/>
          </a:solidFill>
          <a:ln/>
        </p:spPr>
      </p:sp>
      <p:pic>
        <p:nvPicPr>
          <p:cNvPr id="6" name="Image 1" descr="/home/claude/phishing/icon_mail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1260" y="505206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822960" y="3246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C01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841248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bait. Protect the catch.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41248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•  Task 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41248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this training module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4572000"/>
            <a:ext cx="1280160" cy="1280160"/>
          </a:xfrm>
          <a:prstGeom prst="ellipse">
            <a:avLst/>
          </a:prstGeom>
          <a:solidFill>
            <a:srgbClr val="2B3572"/>
          </a:solidFill>
          <a:ln/>
        </p:spPr>
      </p:sp>
      <p:pic>
        <p:nvPicPr>
          <p:cNvPr id="6" name="Image 0" descr="/home/claude/phishing/icon_target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89204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43400" y="594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4343400" y="594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83480" y="539496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983480" y="88696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and why it matters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1563624"/>
            <a:ext cx="457200" cy="457200"/>
          </a:xfrm>
          <a:prstGeom prst="ellipse">
            <a:avLst/>
          </a:prstGeom>
          <a:solidFill>
            <a:srgbClr val="C0142F"/>
          </a:solidFill>
          <a:ln/>
        </p:spPr>
      </p:sp>
      <p:sp>
        <p:nvSpPr>
          <p:cNvPr id="12" name="Text 9"/>
          <p:cNvSpPr/>
          <p:nvPr/>
        </p:nvSpPr>
        <p:spPr>
          <a:xfrm>
            <a:off x="4343400" y="1563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83480" y="15087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 Attacks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83480" y="185623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spear, whaling, smishing &amp; more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43400" y="25328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4343400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83480" y="247802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Fake Emails &amp; Websites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983480" y="282549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to watch for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343400" y="3502152"/>
            <a:ext cx="457200" cy="457200"/>
          </a:xfrm>
          <a:prstGeom prst="ellipse">
            <a:avLst/>
          </a:prstGeom>
          <a:solidFill>
            <a:srgbClr val="C0142F"/>
          </a:solidFill>
          <a:ln/>
        </p:spPr>
      </p:sp>
      <p:sp>
        <p:nvSpPr>
          <p:cNvPr id="20" name="Text 17"/>
          <p:cNvSpPr/>
          <p:nvPr/>
        </p:nvSpPr>
        <p:spPr>
          <a:xfrm>
            <a:off x="4343400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983480" y="344728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983480" y="37947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tricks attackers use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343400" y="44714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434340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983480" y="441655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983480" y="476402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major breaches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343400" y="5440680"/>
            <a:ext cx="457200" cy="457200"/>
          </a:xfrm>
          <a:prstGeom prst="ellipse">
            <a:avLst/>
          </a:prstGeom>
          <a:solidFill>
            <a:srgbClr val="C0142F"/>
          </a:solidFill>
          <a:ln/>
        </p:spPr>
      </p:sp>
      <p:sp>
        <p:nvSpPr>
          <p:cNvPr id="28" name="Text 25"/>
          <p:cNvSpPr/>
          <p:nvPr/>
        </p:nvSpPr>
        <p:spPr>
          <a:xfrm>
            <a:off x="434340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983480" y="5385816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Quiz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983480" y="573328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tips + interactive test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67512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00200"/>
            <a:ext cx="6126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</a:t>
            </a:r>
            <a:r>
              <a:rPr lang="en-US" sz="14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cyberattack where criminals impersonate trusted organizations or people — via email, text, or fake websites — to trick victims into revealing passwords, financial details, or installing malware.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daily worldwide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34640" y="37490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834640" y="4434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 for data breaches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20640" y="37490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120640" y="4434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successful cyberattacks start with phishing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589520" y="1371600"/>
            <a:ext cx="4023360" cy="470916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75420" y="1851660"/>
            <a:ext cx="1051560" cy="1051560"/>
          </a:xfrm>
          <a:prstGeom prst="ellipse">
            <a:avLst/>
          </a:prstGeom>
          <a:solidFill>
            <a:srgbClr val="2B3572"/>
          </a:solidFill>
          <a:ln/>
        </p:spPr>
      </p:sp>
      <p:pic>
        <p:nvPicPr>
          <p:cNvPr id="13" name="Image 0" descr="/home/claude/phishing/icon_mai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8310" y="2114550"/>
            <a:ext cx="525780" cy="5257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1812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"Phishing" = Fishing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63840" y="3474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cast bait (a fake message) hoping someone bites — just like a fisherman with a hook.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955280" y="4572000"/>
            <a:ext cx="3474720" cy="0"/>
          </a:xfrm>
          <a:prstGeom prst="line">
            <a:avLst/>
          </a:prstGeom>
          <a:noFill/>
          <a:ln w="12700">
            <a:solidFill>
              <a:srgbClr val="3A447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0" y="4800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steal credentials, money, or install malware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863840" y="5394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via email, SMS, calls, or fake sites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Phishing Attack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the first email to a compromised account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325880" y="3611880"/>
            <a:ext cx="9509760" cy="0"/>
          </a:xfrm>
          <a:prstGeom prst="line">
            <a:avLst/>
          </a:prstGeom>
          <a:noFill/>
          <a:ln w="38100">
            <a:solidFill>
              <a:srgbClr val="D6DCE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292608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hishing/icon_sen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3323844"/>
            <a:ext cx="576072" cy="5760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" y="2898648"/>
            <a:ext cx="1426464" cy="1426464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19072" y="2761488"/>
            <a:ext cx="402336" cy="402336"/>
          </a:xfrm>
          <a:prstGeom prst="ellipse">
            <a:avLst/>
          </a:prstGeom>
          <a:solidFill>
            <a:srgbClr val="C014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19072" y="2761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4480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 Sent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" y="48463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emails/texts a fake but convincing message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3017520" y="292608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phishing/icon_mousepoin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284" y="3323844"/>
            <a:ext cx="576072" cy="5760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990088" y="2898648"/>
            <a:ext cx="1426464" cy="1426464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096512" y="2761488"/>
            <a:ext cx="402336" cy="402336"/>
          </a:xfrm>
          <a:prstGeom prst="ellipse">
            <a:avLst/>
          </a:prstGeom>
          <a:solidFill>
            <a:srgbClr val="C014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096512" y="2761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697480" y="4480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Engages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651760" y="48463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or urgency drives a click on the link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5394960" y="292608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phishing/icon_glo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2724" y="3323844"/>
            <a:ext cx="576072" cy="57607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367528" y="2898648"/>
            <a:ext cx="1426464" cy="1426464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73952" y="2761488"/>
            <a:ext cx="402336" cy="402336"/>
          </a:xfrm>
          <a:prstGeom prst="ellipse">
            <a:avLst/>
          </a:prstGeom>
          <a:solidFill>
            <a:srgbClr val="C014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73952" y="2761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074920" y="4480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Page Loads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029200" y="48463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cloned login page collects credentials</a:t>
            </a:r>
            <a:endParaRPr lang="en-US" sz="980" dirty="0"/>
          </a:p>
        </p:txBody>
      </p:sp>
      <p:sp>
        <p:nvSpPr>
          <p:cNvPr id="26" name="Shape 21"/>
          <p:cNvSpPr/>
          <p:nvPr/>
        </p:nvSpPr>
        <p:spPr>
          <a:xfrm>
            <a:off x="7772400" y="292608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home/claude/phishing/icon_ke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164" y="3323844"/>
            <a:ext cx="576072" cy="57607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744968" y="2898648"/>
            <a:ext cx="1426464" cy="1426464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851392" y="2761488"/>
            <a:ext cx="402336" cy="402336"/>
          </a:xfrm>
          <a:prstGeom prst="ellipse">
            <a:avLst/>
          </a:prstGeom>
          <a:solidFill>
            <a:srgbClr val="C014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851392" y="2761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452360" y="4480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Stolen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406640" y="48463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captures the username &amp; password entered</a:t>
            </a:r>
            <a:endParaRPr lang="en-US" sz="980" dirty="0"/>
          </a:p>
        </p:txBody>
      </p:sp>
      <p:sp>
        <p:nvSpPr>
          <p:cNvPr id="33" name="Shape 27"/>
          <p:cNvSpPr/>
          <p:nvPr/>
        </p:nvSpPr>
        <p:spPr>
          <a:xfrm>
            <a:off x="10149840" y="2926080"/>
            <a:ext cx="1371600" cy="137160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34" name="Image 4" descr="/home/claude/phishing/icon_un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7604" y="3323844"/>
            <a:ext cx="576072" cy="57607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0122408" y="2898648"/>
            <a:ext cx="1426464" cy="1426464"/>
          </a:xfrm>
          <a:prstGeom prst="ellipse">
            <a:avLst/>
          </a:prstGeom>
          <a:ln w="19050">
            <a:solidFill>
              <a:srgbClr val="C0142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1228832" y="2761488"/>
            <a:ext cx="402336" cy="402336"/>
          </a:xfrm>
          <a:prstGeom prst="ellipse">
            <a:avLst/>
          </a:prstGeom>
          <a:solidFill>
            <a:srgbClr val="C014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1228832" y="2761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9829800" y="4480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Compromised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9784080" y="48463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logs in, steals data or moves money</a:t>
            </a:r>
            <a:endParaRPr lang="en-US" sz="980" dirty="0"/>
          </a:p>
        </p:txBody>
      </p:sp>
      <p:sp>
        <p:nvSpPr>
          <p:cNvPr id="40" name="Shape 33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41" name="Text 34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the chain at any step — not clicking, not entering credentials, or spotting the fake page — stops the attack.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Attacks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adapt their bait to the channel and the target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324612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hishing/icon_mai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197281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60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95351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fake emails impersonating banks, brands or services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600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4840" y="1600200"/>
            <a:ext cx="3246120" cy="54864"/>
          </a:xfrm>
          <a:prstGeom prst="rect">
            <a:avLst/>
          </a:prstGeom>
          <a:solidFill>
            <a:srgbClr val="C0142F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1828800"/>
            <a:ext cx="640080" cy="64008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13" name="Image 1" descr="/home/claude/phishing/icon_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8" y="197281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2560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26280" y="295351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attack aimed at a specific person or role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46720" y="1600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83880" y="1600200"/>
            <a:ext cx="324612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832104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phishing/icon_user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5058" y="1972818"/>
            <a:ext cx="352044" cy="3520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75320" y="2560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275320" y="295351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/ senior leadership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2062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5800" y="4206240"/>
            <a:ext cx="3246120" cy="54864"/>
          </a:xfrm>
          <a:prstGeom prst="rect">
            <a:avLst/>
          </a:prstGeom>
          <a:solidFill>
            <a:srgbClr val="C0142F"/>
          </a:solidFill>
          <a:ln/>
        </p:spPr>
      </p:sp>
      <p:sp>
        <p:nvSpPr>
          <p:cNvPr id="24" name="Shape 19"/>
          <p:cNvSpPr/>
          <p:nvPr/>
        </p:nvSpPr>
        <p:spPr>
          <a:xfrm>
            <a:off x="822960" y="4434840"/>
            <a:ext cx="640080" cy="64008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25" name="Image 3" descr="/home/claude/phishing/icon_smartpho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978" y="4578858"/>
            <a:ext cx="352044" cy="3520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7240" y="5166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77240" y="555955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delivered via SMS text messages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297680" y="42062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34840" y="4206240"/>
            <a:ext cx="324612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Shape 24"/>
          <p:cNvSpPr/>
          <p:nvPr/>
        </p:nvSpPr>
        <p:spPr>
          <a:xfrm>
            <a:off x="4572000" y="4434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4" descr="/home/claude/phishing/icon_phon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018" y="4578858"/>
            <a:ext cx="352044" cy="3520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526280" y="5166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526280" y="555955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 phishing, often impersonating support or bank staff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8046720" y="42062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183880" y="4206240"/>
            <a:ext cx="3246120" cy="54864"/>
          </a:xfrm>
          <a:prstGeom prst="rect">
            <a:avLst/>
          </a:prstGeom>
          <a:solidFill>
            <a:srgbClr val="C0142F"/>
          </a:solidFill>
          <a:ln/>
        </p:spPr>
      </p:sp>
      <p:sp>
        <p:nvSpPr>
          <p:cNvPr id="36" name="Shape 29"/>
          <p:cNvSpPr/>
          <p:nvPr/>
        </p:nvSpPr>
        <p:spPr>
          <a:xfrm>
            <a:off x="8321040" y="4434840"/>
            <a:ext cx="640080" cy="64008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37" name="Image 5" descr="/home/claude/phishing/icon_glob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5058" y="4578858"/>
            <a:ext cx="352044" cy="3520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75320" y="5166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8275320" y="555955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email is copied and resent with malicious links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that give a fake email away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035040" cy="4709160"/>
          </a:xfrm>
          <a:prstGeom prst="roundRect">
            <a:avLst>
              <a:gd name="adj" fmla="val 1165"/>
            </a:avLst>
          </a:prstGeom>
          <a:solidFill>
            <a:srgbClr val="F4F6FB"/>
          </a:solidFill>
          <a:ln w="12700">
            <a:solidFill>
              <a:srgbClr val="D6DC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60350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Message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2194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security-alert@paypa1-verify.com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560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account will be suspended in 24 hours!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2926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you@example.com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5577840" cy="0"/>
          </a:xfrm>
          <a:prstGeom prst="line">
            <a:avLst/>
          </a:prstGeom>
          <a:noFill/>
          <a:ln w="12700">
            <a:solidFill>
              <a:srgbClr val="D6DC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20440"/>
            <a:ext cx="5577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Customer,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activity. Click below immediately to verify your identity or your account will be permanently locked.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http://paypa1-verify-secure.com/login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Regards,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Team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54864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C0142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486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86600" y="1536192"/>
            <a:ext cx="457200" cy="45720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18" name="Image 0" descr="/home/claude/phishing/icon_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470" y="1639062"/>
            <a:ext cx="251460" cy="2514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680960" y="1508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domain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80960" y="18379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"paypa1" uses a 1 instead of l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086600" y="2468880"/>
            <a:ext cx="457200" cy="45720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22" name="Image 1" descr="/home/claude/phishing/icon_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470" y="2571750"/>
            <a:ext cx="251460" cy="2514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680960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threats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680960" y="27706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Pressures you to act without thinking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7086600" y="3401568"/>
            <a:ext cx="457200" cy="45720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26" name="Image 2" descr="/home/claude/phishing/icon_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470" y="3504438"/>
            <a:ext cx="251460" cy="2514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680960" y="33741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7680960" y="3703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Customer" instead of your name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086600" y="4334256"/>
            <a:ext cx="457200" cy="45720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30" name="Image 3" descr="/home/claude/phishing/icon_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470" y="4437126"/>
            <a:ext cx="251460" cy="2514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680960" y="430682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680960" y="46360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to check — URL doesn't match the real site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7086600" y="5266944"/>
            <a:ext cx="457200" cy="45720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34" name="Image 4" descr="/home/claude/phishing/icon_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470" y="5369814"/>
            <a:ext cx="251460" cy="2514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680960" y="52395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 or request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7680960" y="55686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sensitive info via email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Fake Websites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entering any credentials, check the address bar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52E67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" y="2103120"/>
            <a:ext cx="594360" cy="59436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6" name="Image 0" descr="/home/claude/phishing/icon_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91" y="223685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 / padlock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2402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padlock or 'Not Secure' warning in the browser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52E67"/>
          </a:solidFill>
          <a:ln/>
        </p:spPr>
      </p:sp>
      <p:sp>
        <p:nvSpPr>
          <p:cNvPr id="10" name="Shape 7"/>
          <p:cNvSpPr/>
          <p:nvPr/>
        </p:nvSpPr>
        <p:spPr>
          <a:xfrm>
            <a:off x="6606540" y="2103120"/>
            <a:ext cx="594360" cy="59436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11" name="Image 1" descr="/home/claude/phishing/icon_li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271" y="223685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562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domain name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360920" y="22402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words, hyphens, or misspellings, e.g. amaz0n-support.net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52E67"/>
          </a:solidFill>
          <a:ln/>
        </p:spPr>
      </p:sp>
      <p:sp>
        <p:nvSpPr>
          <p:cNvPr id="15" name="Shape 11"/>
          <p:cNvSpPr/>
          <p:nvPr/>
        </p:nvSpPr>
        <p:spPr>
          <a:xfrm>
            <a:off x="937260" y="3703320"/>
            <a:ext cx="594360" cy="59436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16" name="Image 2" descr="/home/claude/phishing/icon_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991" y="383705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4564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design &amp; typos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91640" y="38404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Low-quality logos, broken layout, grammar mistakes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7920" y="32918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52E67"/>
          </a:solidFill>
          <a:ln/>
        </p:spPr>
      </p:sp>
      <p:sp>
        <p:nvSpPr>
          <p:cNvPr id="20" name="Shape 15"/>
          <p:cNvSpPr/>
          <p:nvPr/>
        </p:nvSpPr>
        <p:spPr>
          <a:xfrm>
            <a:off x="6606540" y="3703320"/>
            <a:ext cx="594360" cy="59436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21" name="Image 3" descr="/home/claude/phishing/icon_eyeoff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0271" y="383705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4564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Pop-ups demanding info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360920" y="38404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 sites rarely pop up asking for passwords instantly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892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52E67"/>
          </a:solidFill>
          <a:ln/>
        </p:spPr>
      </p:sp>
      <p:sp>
        <p:nvSpPr>
          <p:cNvPr id="25" name="Shape 19"/>
          <p:cNvSpPr/>
          <p:nvPr/>
        </p:nvSpPr>
        <p:spPr>
          <a:xfrm>
            <a:off x="937260" y="5303520"/>
            <a:ext cx="594360" cy="59436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26" name="Image 4" descr="/home/claude/phishing/icon_c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991" y="5437251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50566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Too-good offers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691640" y="54406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Unrealistic discounts or prizes to lure quick clicks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17920" y="4892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52E67"/>
          </a:solidFill>
          <a:ln/>
        </p:spPr>
      </p:sp>
      <p:sp>
        <p:nvSpPr>
          <p:cNvPr id="30" name="Shape 23"/>
          <p:cNvSpPr/>
          <p:nvPr/>
        </p:nvSpPr>
        <p:spPr>
          <a:xfrm>
            <a:off x="6606540" y="5303520"/>
            <a:ext cx="594360" cy="59436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31" name="Image 5" descr="/home/claude/phishing/icon_glob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0271" y="5437251"/>
            <a:ext cx="326898" cy="32689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60920" y="50566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chains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360920" y="54406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changes multiple times before landing on the form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 psychology, not just technology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18516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hishing/icon_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985" y="20059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974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08152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now or lose access" — pressure short-circuits careful thinking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61688" y="1600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5824728" y="18516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hishing/icon_user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9033" y="200596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26974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90288" y="308152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boss, bank, or government official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74736" y="1600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9637776" y="18516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hishing/icon_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2081" y="200596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6974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Familiarity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03336" y="308152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Posing as a known contact or coworker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2011680" y="43662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hishing/icon_ale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5985" y="452056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52120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559612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fines, legal action, or account suspension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61688" y="41148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25" name="Shape 19"/>
          <p:cNvSpPr/>
          <p:nvPr/>
        </p:nvSpPr>
        <p:spPr>
          <a:xfrm>
            <a:off x="5824728" y="43662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phishing/icon_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033" y="4520565"/>
            <a:ext cx="377190" cy="3771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44568" y="52120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90288" y="559612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won't believe this" links or shocking headlines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74736" y="41148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30" name="Shape 23"/>
          <p:cNvSpPr/>
          <p:nvPr/>
        </p:nvSpPr>
        <p:spPr>
          <a:xfrm>
            <a:off x="9637776" y="43662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phishing/icon_c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2081" y="4520565"/>
            <a:ext cx="377190" cy="37719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7616" y="52120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03336" y="559612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prizes, refunds, or investment opportunities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Case Study #1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$100M Facebook &amp; Google Invoice Scam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95360" y="1417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– 2015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9494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331720"/>
            <a:ext cx="6400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Attacker: </a:t>
            </a:r>
            <a:r>
              <a:rPr lang="en-US" sz="12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Lithuanian national Evaldas Rimasauskas set up a fake company with a name nearly identical to a real hardware supplier used by both tech giants.
</a:t>
            </a:r>
            <a:r>
              <a:rPr lang="en-US" sz="125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2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sent forged invoices, contracts, and emails impersonating the legitimate vendor, requesting wire transfers to bank accounts he controlled.
</a:t>
            </a:r>
            <a:r>
              <a:rPr lang="en-US" sz="125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12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companies wired over $100 million combined before the fraud was discovered. Most funds were eventually recovered after a lengthy investigation.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0" y="2103120"/>
            <a:ext cx="3840480" cy="402336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0" y="2377440"/>
            <a:ext cx="914400" cy="914400"/>
          </a:xfrm>
          <a:prstGeom prst="ellipse">
            <a:avLst/>
          </a:prstGeom>
          <a:solidFill>
            <a:srgbClr val="2B3572"/>
          </a:solidFill>
          <a:ln/>
        </p:spPr>
      </p:sp>
      <p:pic>
        <p:nvPicPr>
          <p:cNvPr id="10" name="Image 0" descr="/home/claude/phishing/icon_card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0" y="258318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0" y="3429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01000" y="384048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payment or invoice changes through a second, independent channel — a phone call to a known number, not the one in the email.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Case Study #2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2020 Twitter Bitcoin Scam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95360" y="1417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9494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331720"/>
            <a:ext cx="6400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2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used a vishing (voice phishing) campaign, calling Twitter employees while posing as IT support to steal their internal login credentials.
</a:t>
            </a:r>
            <a:r>
              <a:rPr lang="en-US" sz="125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2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gained access to Twitter's internal admin tools and hijacked high-profile verified accounts (Elon Musk, Barack Obama, Apple, and others), posting a Bitcoin double-your-money scam.
</a:t>
            </a:r>
            <a:r>
              <a:rPr lang="en-US" sz="125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12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$118,000 in Bitcoin was collected from victims within hours, and it exposed how a single social engineering call can compromise an entire platform.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0" y="2103120"/>
            <a:ext cx="3840480" cy="402336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0" y="2377440"/>
            <a:ext cx="914400" cy="914400"/>
          </a:xfrm>
          <a:prstGeom prst="ellipse">
            <a:avLst/>
          </a:prstGeom>
          <a:solidFill>
            <a:srgbClr val="2B3572"/>
          </a:solidFill>
          <a:ln/>
        </p:spPr>
      </p:sp>
      <p:pic>
        <p:nvPicPr>
          <p:cNvPr id="10" name="Image 0" descr="/home/claude/phishing/icon_phone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0" y="258318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0" y="3429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01000" y="384048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internal staff and trusted platforms are targets. Verify identity through official channels before sharing credentials — over phone, chat, or email.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&amp; Prevention Tips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habits that stop most phishing attacks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" name="Image 0" descr="/home/claude/phishing/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48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647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00200" y="21488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full email address, not just the display name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011680"/>
            <a:ext cx="548640" cy="54864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1" name="Image 1" descr="/home/claude/phishing/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488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7647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you click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269480" y="21488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actual URL destination before clicking any link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3566160"/>
            <a:ext cx="548640" cy="54864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6" name="Image 2" descr="/home/claude/phishing/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7033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319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00200" y="37033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blocks most stolen-password attacks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7920" y="31546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0" y="3566160"/>
            <a:ext cx="548640" cy="54864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1" name="Image 3" descr="/home/claude/phishing/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7033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319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269480" y="37033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reuse and autofill on fake lookalike sites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7091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25" name="Shape 19"/>
          <p:cNvSpPr/>
          <p:nvPr/>
        </p:nvSpPr>
        <p:spPr>
          <a:xfrm>
            <a:off x="914400" y="5120640"/>
            <a:ext cx="548640" cy="54864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6" name="Image 4" descr="/home/claude/phishing/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2578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48737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via a second channel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600200" y="5257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known number to confirm unusual requests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17920" y="47091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30" name="Shape 23"/>
          <p:cNvSpPr/>
          <p:nvPr/>
        </p:nvSpPr>
        <p:spPr>
          <a:xfrm>
            <a:off x="6583680" y="5120640"/>
            <a:ext cx="548640" cy="54864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31" name="Image 5" descr="/home/claude/phishing/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52578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69480" y="48737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delete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269480" y="5257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IT/security, then delete them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Fall Victim — Act Fast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minute counts — follow these steps immediately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C0142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passwords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update credentials on the affected account and any reused elsewhere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C0142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578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94436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multi-factor authentication if it isn't already active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557016"/>
            <a:ext cx="502920" cy="502920"/>
          </a:xfrm>
          <a:prstGeom prst="ellipse">
            <a:avLst/>
          </a:prstGeom>
          <a:solidFill>
            <a:srgbClr val="C0142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57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51129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bank / IT team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87705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incident to your bank or organization's security team right away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489704"/>
            <a:ext cx="502920" cy="502920"/>
          </a:xfrm>
          <a:prstGeom prst="ellipse">
            <a:avLst/>
          </a:prstGeom>
          <a:solidFill>
            <a:srgbClr val="C0142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89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44398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your accounts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80974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unauthorized transactions or login activity over the following weeks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5422392"/>
            <a:ext cx="502920" cy="502920"/>
          </a:xfrm>
          <a:prstGeom prst="ellipse">
            <a:avLst/>
          </a:prstGeom>
          <a:solidFill>
            <a:srgbClr val="C0142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422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3766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phishing attempt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74243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it to your IT/security team or platforms like reportphishing@apwg.org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Quiz — Test Yourself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each scenario as a group before revealing the answer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6420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an email from "HR" asking you to confirm your salary bank account by clicking a link — urgently. What do you do?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Click and enter details fast      B. Verify with HR directly, don't click      C. Forward to a friend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CEEE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383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326440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URL reads "http://secure-login-bankofindia.co" instead of the bank's real domain. Is this safe?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508760" y="39319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Yes, it says 'secure'      B. No — mismatched/suspicious domain      C. Can't tell without opening it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983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86460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 call from someone claiming to be tech support asking for your OTP to "fix an issue." What's the right move?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508760" y="55321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Share the OTP to resolve it fast      B. Hang up — legitimate support never asks for OTP      C. Share only half the OTP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Answers &amp; Why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252E67"/>
          </a:solidFill>
          <a:ln/>
        </p:spPr>
      </p:sp>
      <p:sp>
        <p:nvSpPr>
          <p:cNvPr id="4" name="Shape 2"/>
          <p:cNvSpPr/>
          <p:nvPr/>
        </p:nvSpPr>
        <p:spPr>
          <a:xfrm>
            <a:off x="982980" y="1805940"/>
            <a:ext cx="777240" cy="77724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5" name="Image 0" descr="/home/claude/phishing/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859" y="198081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→ 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011680" y="2121408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confirm sensitive info via an emailed link. Verify directly with HR through a known phone number or in person.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252E67"/>
          </a:solidFill>
          <a:ln/>
        </p:spPr>
      </p:sp>
      <p:sp>
        <p:nvSpPr>
          <p:cNvPr id="9" name="Shape 6"/>
          <p:cNvSpPr/>
          <p:nvPr/>
        </p:nvSpPr>
        <p:spPr>
          <a:xfrm>
            <a:off x="982980" y="3314700"/>
            <a:ext cx="777240" cy="77724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10" name="Image 1" descr="/home/claude/phishing/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859" y="3489579"/>
            <a:ext cx="427482" cy="4274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1168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→ B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011680" y="3630168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or unfamiliar domains are a major red flag, even if the page looks official or says 'secure'.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252E67"/>
          </a:solidFill>
          <a:ln/>
        </p:spPr>
      </p:sp>
      <p:sp>
        <p:nvSpPr>
          <p:cNvPr id="14" name="Shape 10"/>
          <p:cNvSpPr/>
          <p:nvPr/>
        </p:nvSpPr>
        <p:spPr>
          <a:xfrm>
            <a:off x="982980" y="4823460"/>
            <a:ext cx="777240" cy="777240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15" name="Image 2" descr="/home/claude/phishing/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859" y="4998339"/>
            <a:ext cx="427482" cy="4274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1168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→ B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2011680" y="5138928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support teams never ask for your OTP. Sharing it hands over full access to your account.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habits that stop almost every phishing attempt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3504" y="1655064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hishing/icon_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81051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45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 and inspect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417320" y="20116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sender address, domain spelling, and links before acting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03504" y="2551176"/>
            <a:ext cx="621792" cy="621792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9" name="Image 1" descr="/home/claude/phishing/icon_z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70662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5420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is a red flag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417320" y="29077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organizations rarely demand instant action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03504" y="344728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phishing/icon_user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60273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43814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independently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417320" y="380390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unusual requests via a known phone number or in person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03504" y="4343400"/>
            <a:ext cx="621792" cy="621792"/>
          </a:xfrm>
          <a:prstGeom prst="ellipse">
            <a:avLst/>
          </a:prstGeom>
          <a:solidFill>
            <a:srgbClr val="C0142F"/>
          </a:solidFill>
          <a:ln/>
        </p:spPr>
      </p:sp>
      <p:pic>
        <p:nvPicPr>
          <p:cNvPr id="17" name="Image 3" descr="/home/claude/phishing/icon_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449884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33425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your defenses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417320" y="470001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password managers, and updated software reduce your risk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03504" y="523951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/home/claude/phishing/icon_flag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5394960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52303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don't ignore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417320" y="5596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suspicious messages protects you and your organization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1828800" y="-1828800"/>
            <a:ext cx="16459200" cy="36576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417320"/>
            <a:ext cx="1188720" cy="1188720"/>
          </a:xfrm>
          <a:prstGeom prst="ellipse">
            <a:avLst/>
          </a:prstGeom>
          <a:solidFill>
            <a:srgbClr val="2B3572"/>
          </a:solidFill>
          <a:ln/>
        </p:spPr>
      </p:sp>
      <p:pic>
        <p:nvPicPr>
          <p:cNvPr id="4" name="Image 0" descr="/home/claude/phishing/icon_shield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580" y="171450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926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Alert. Stay Secure.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don't click — verify first.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480560" y="4572000"/>
            <a:ext cx="3200400" cy="0"/>
          </a:xfrm>
          <a:prstGeom prst="line">
            <a:avLst/>
          </a:prstGeom>
          <a:noFill/>
          <a:ln w="12700">
            <a:solidFill>
              <a:srgbClr val="3A447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— Task 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1432</Words>
  <Application>Microsoft Office PowerPoint</Application>
  <PresentationFormat>Custom</PresentationFormat>
  <Paragraphs>245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sahil raj</cp:lastModifiedBy>
  <cp:revision>2</cp:revision>
  <dcterms:created xsi:type="dcterms:W3CDTF">2026-07-18T05:29:45Z</dcterms:created>
  <dcterms:modified xsi:type="dcterms:W3CDTF">2026-07-18T05:42:31Z</dcterms:modified>
</cp:coreProperties>
</file>